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00503000000020004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5866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3425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3030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CRISP-DM and SMART KPIs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3799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comprehensive guide to structured data science methodology and effective KPI framework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032329"/>
            <a:ext cx="7556421" cy="35957"/>
          </a:xfrm>
          <a:prstGeom prst="rect">
            <a:avLst/>
          </a:prstGeom>
          <a:solidFill>
            <a:srgbClr val="46464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06F931B-1014-512F-81CE-54F4AB0CE8C9}"/>
              </a:ext>
            </a:extLst>
          </p:cNvPr>
          <p:cNvSpPr/>
          <p:nvPr/>
        </p:nvSpPr>
        <p:spPr>
          <a:xfrm>
            <a:off x="12801600" y="7729728"/>
            <a:ext cx="1719072" cy="40233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95D7FEB9-0566-19B6-0D3D-F0C1A06C3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3648" y="-3361"/>
            <a:ext cx="2206752" cy="708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940" y="520898"/>
            <a:ext cx="4735354" cy="591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03030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CRISP-DM Overview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2940" y="1609844"/>
            <a:ext cx="3804285" cy="1788200"/>
          </a:xfrm>
          <a:prstGeom prst="roundRect">
            <a:avLst>
              <a:gd name="adj" fmla="val 444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869" y="1806773"/>
            <a:ext cx="2647117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Methodology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9869" y="2292072"/>
            <a:ext cx="3410426" cy="909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framework for data mining and analytics projects across industries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656534" y="1609844"/>
            <a:ext cx="3804285" cy="1788200"/>
          </a:xfrm>
          <a:prstGeom prst="roundRect">
            <a:avLst>
              <a:gd name="adj" fmla="val 444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53464" y="1806773"/>
            <a:ext cx="2367677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Iterative Process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853464" y="2292072"/>
            <a:ext cx="3410426" cy="60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interconnected phases ensuring structured, repeatable workflows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2940" y="3587353"/>
            <a:ext cx="7797879" cy="1182172"/>
          </a:xfrm>
          <a:prstGeom prst="roundRect">
            <a:avLst>
              <a:gd name="adj" fmla="val 6730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869" y="3784283"/>
            <a:ext cx="3082528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Business-Technical Bridge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9869" y="4269581"/>
            <a:ext cx="7404021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technical data work with clear business objectives and outcomes</a:t>
            </a:r>
            <a:endParaRPr lang="en-US" sz="14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402" y="1609844"/>
            <a:ext cx="5044559" cy="504455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30402" y="6867406"/>
            <a:ext cx="5044559" cy="909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CRISP-DM provides the foundation for modern data science projects, ensuring systematic approaches that deliver measurable business value.</a:t>
            </a:r>
            <a:endParaRPr lang="en-US" sz="1450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955736F-27D4-187A-F347-B331967CEB90}"/>
              </a:ext>
            </a:extLst>
          </p:cNvPr>
          <p:cNvSpPr/>
          <p:nvPr/>
        </p:nvSpPr>
        <p:spPr>
          <a:xfrm>
            <a:off x="12801600" y="7729728"/>
            <a:ext cx="1719072" cy="40233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BCAC2B10-4B52-7ACE-866F-E779A4A13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3648" y="-3361"/>
            <a:ext cx="2206752" cy="7087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67953"/>
            <a:ext cx="6446639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3030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Understanding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80190" y="1764506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280190" y="2100143"/>
            <a:ext cx="3670459" cy="3048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0190" y="2268736"/>
            <a:ext cx="333351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Define Project Objectives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280190" y="2734508"/>
            <a:ext cx="3670459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clear project goals and key success criteria that align with organizational priorities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166033" y="1764506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10166033" y="2100143"/>
            <a:ext cx="3670578" cy="3048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166033" y="2268736"/>
            <a:ext cx="3670578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Translate Business Problems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166033" y="3071098"/>
            <a:ext cx="3670578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business challenges into specific data mining goals and technical requirements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280190" y="4482465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80190" y="4818102"/>
            <a:ext cx="7556421" cy="3048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280190" y="4986695"/>
            <a:ext cx="358663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Identify Project Parameters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280190" y="5452467"/>
            <a:ext cx="75564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constraints, potential risks, and measurable success metrics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6280190" y="6201251"/>
            <a:ext cx="7556421" cy="1260277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574" y="6525816"/>
            <a:ext cx="269319" cy="2153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80277" y="6470452"/>
            <a:ext cx="6640949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</a:t>
            </a:r>
            <a:r>
              <a:rPr lang="en-US" sz="1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"Reduce student inquiry response time by 30% within 6 months using predictive routing algorithms"</a:t>
            </a:r>
            <a:endParaRPr lang="en-US" sz="1650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BC2B5AA-4D71-523B-1891-760CB52A248C}"/>
              </a:ext>
            </a:extLst>
          </p:cNvPr>
          <p:cNvSpPr/>
          <p:nvPr/>
        </p:nvSpPr>
        <p:spPr>
          <a:xfrm>
            <a:off x="12801600" y="7729728"/>
            <a:ext cx="1719072" cy="40233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3E16D04C-769B-490C-AF85-50D17327F7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23648" y="-3361"/>
            <a:ext cx="2206752" cy="7087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094" y="589359"/>
            <a:ext cx="4554379" cy="569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3030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Understanding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17" y="1608296"/>
            <a:ext cx="273248" cy="3414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2073" y="1636752"/>
            <a:ext cx="2277189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Collection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342073" y="2103596"/>
            <a:ext cx="575095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Gather and integrate initial datasets from multiple sources and systems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17" y="3022402"/>
            <a:ext cx="273248" cy="3414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2073" y="3050858"/>
            <a:ext cx="2306598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Exploratory Analysis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342073" y="3517702"/>
            <a:ext cx="575095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Examine data characteristics, quality patterns, and structural relationships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17" y="4436507"/>
            <a:ext cx="273248" cy="3414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42073" y="4464963"/>
            <a:ext cx="2277189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Gap Assessment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342073" y="4931807"/>
            <a:ext cx="575095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missing data, inconsistencies, and quality issues requiring attention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17" y="5850612"/>
            <a:ext cx="273248" cy="3414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42073" y="5879068"/>
            <a:ext cx="2277189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 Hypotheses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342073" y="6345912"/>
            <a:ext cx="575095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early theories about potential drivers and outcome relationships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991" y="1636752"/>
            <a:ext cx="5391388" cy="53913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544991" y="7233047"/>
            <a:ext cx="6342936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phase establishes the foundation for all subsequent work by thoroughly understanding available data assets and their limitations.</a:t>
            </a:r>
            <a:endParaRPr lang="en-US" sz="1400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33D9DA7-E21E-CF5B-8492-052692936E71}"/>
              </a:ext>
            </a:extLst>
          </p:cNvPr>
          <p:cNvSpPr/>
          <p:nvPr/>
        </p:nvSpPr>
        <p:spPr>
          <a:xfrm>
            <a:off x="12801600" y="7729728"/>
            <a:ext cx="1719072" cy="40233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8F9168F0-DCE7-ADA2-CAEB-966DC1B61F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23648" y="-3361"/>
            <a:ext cx="2206752" cy="7087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59725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3030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1610201" y="1551384"/>
            <a:ext cx="5923598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3030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Engineering Excellence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10603" y="2322552"/>
            <a:ext cx="22860" cy="5247323"/>
          </a:xfrm>
          <a:prstGeom prst="roundRect">
            <a:avLst>
              <a:gd name="adj" fmla="val 354232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204615" y="2527935"/>
            <a:ext cx="578406" cy="22860"/>
          </a:xfrm>
          <a:prstGeom prst="roundRect">
            <a:avLst>
              <a:gd name="adj" fmla="val 354232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93730" y="2322552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5942" y="2358628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974652" y="238875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Cleaning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974652" y="2805589"/>
            <a:ext cx="6375559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missing values, remove outliers, and standardize formatting across datasets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204615" y="4013240"/>
            <a:ext cx="578406" cy="22860"/>
          </a:xfrm>
          <a:prstGeom prst="roundRect">
            <a:avLst>
              <a:gd name="adj" fmla="val 354232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93730" y="3807857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5942" y="3843933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974652" y="387405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Engineering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974652" y="4290893"/>
            <a:ext cx="6375559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meaningful variables (e.g., converting dates into age groups or seasonal indicators)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204615" y="5498544"/>
            <a:ext cx="578406" cy="22860"/>
          </a:xfrm>
          <a:prstGeom prst="roundRect">
            <a:avLst>
              <a:gd name="adj" fmla="val 354232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93730" y="5293162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5942" y="5329238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974652" y="5359360"/>
            <a:ext cx="303121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Encoding &amp; Normalization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1974652" y="5776198"/>
            <a:ext cx="6375559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categorical features and normalize numerical scales for model compatibility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204615" y="6983849"/>
            <a:ext cx="578406" cy="22860"/>
          </a:xfrm>
          <a:prstGeom prst="roundRect">
            <a:avLst>
              <a:gd name="adj" fmla="val 354232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93730" y="6778466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65942" y="6814542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974652" y="684466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Dataset</a:t>
            </a:r>
            <a:endParaRPr lang="en-US" sz="1850" dirty="0"/>
          </a:p>
        </p:txBody>
      </p:sp>
      <p:sp>
        <p:nvSpPr>
          <p:cNvPr id="25" name="Text 22"/>
          <p:cNvSpPr/>
          <p:nvPr/>
        </p:nvSpPr>
        <p:spPr>
          <a:xfrm>
            <a:off x="1974652" y="7261503"/>
            <a:ext cx="6375559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 clean, structured dataset ready for modeling and analysis</a:t>
            </a:r>
            <a:endParaRPr lang="en-US" sz="1500" dirty="0"/>
          </a:p>
        </p:txBody>
      </p:sp>
      <p:pic>
        <p:nvPicPr>
          <p:cNvPr id="28" name="Picture 27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6C0169FC-B7B8-ACE9-364E-C6CC648FC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3648" y="-3361"/>
            <a:ext cx="2206752" cy="7087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0811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3030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Modeling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48909"/>
            <a:ext cx="3725942" cy="37259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666184"/>
            <a:ext cx="4968002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modeling phase transforms prepared data into predictive insights through systematic algorithm selection and optimization.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354604" y="2004060"/>
            <a:ext cx="170021" cy="1064895"/>
          </a:xfrm>
          <a:prstGeom prst="roundRect">
            <a:avLst>
              <a:gd name="adj" fmla="val 42025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184463" y="1892379"/>
            <a:ext cx="510302" cy="510302"/>
          </a:xfrm>
          <a:prstGeom prst="roundRect">
            <a:avLst>
              <a:gd name="adj" fmla="val 89594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79" y="1988106"/>
            <a:ext cx="255151" cy="3189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64787" y="191893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 Selection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6864787" y="2354699"/>
            <a:ext cx="6979325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appropriate techniques: classification, regression, clustering, or ensemble methods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609755" y="3494246"/>
            <a:ext cx="170021" cy="792718"/>
          </a:xfrm>
          <a:prstGeom prst="roundRect">
            <a:avLst>
              <a:gd name="adj" fmla="val 42025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439614" y="3382566"/>
            <a:ext cx="510302" cy="510302"/>
          </a:xfrm>
          <a:prstGeom prst="roundRect">
            <a:avLst>
              <a:gd name="adj" fmla="val 89594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130" y="3478292"/>
            <a:ext cx="255151" cy="3189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19938" y="340911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Training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7119938" y="3844885"/>
            <a:ext cx="672417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selected algorithms using the prepared dataset with proper validation splits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864906" y="4712256"/>
            <a:ext cx="170021" cy="1064895"/>
          </a:xfrm>
          <a:prstGeom prst="roundRect">
            <a:avLst>
              <a:gd name="adj" fmla="val 42025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694765" y="4600575"/>
            <a:ext cx="510302" cy="510302"/>
          </a:xfrm>
          <a:prstGeom prst="roundRect">
            <a:avLst>
              <a:gd name="adj" fmla="val 89594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2281" y="4696301"/>
            <a:ext cx="255151" cy="3189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75088" y="4627126"/>
            <a:ext cx="247888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Hyperparameter Tuning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7375088" y="5062895"/>
            <a:ext cx="6469023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model parameters through systematic grid search or random search approaches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120057" y="6202442"/>
            <a:ext cx="170021" cy="1064895"/>
          </a:xfrm>
          <a:prstGeom prst="roundRect">
            <a:avLst>
              <a:gd name="adj" fmla="val 42025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949916" y="6090761"/>
            <a:ext cx="510302" cy="510302"/>
          </a:xfrm>
          <a:prstGeom prst="roundRect">
            <a:avLst>
              <a:gd name="adj" fmla="val 89594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7432" y="6186488"/>
            <a:ext cx="255151" cy="3189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30239" y="6117312"/>
            <a:ext cx="267104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Comparison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7630239" y="6553081"/>
            <a:ext cx="6213872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multiple models to identify the best performing candidate for deployment</a:t>
            </a:r>
            <a:endParaRPr lang="en-US" sz="1300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0E21A78-8B46-DB06-0DE5-82C875C5209A}"/>
              </a:ext>
            </a:extLst>
          </p:cNvPr>
          <p:cNvSpPr/>
          <p:nvPr/>
        </p:nvSpPr>
        <p:spPr>
          <a:xfrm>
            <a:off x="12801600" y="7729728"/>
            <a:ext cx="1719072" cy="40233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70DDB39E-8F71-041E-450D-F7372B6AEA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23648" y="-3361"/>
            <a:ext cx="2206752" cy="7087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81871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3030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793790" y="1654254"/>
            <a:ext cx="7556421" cy="1175742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93790" y="1631394"/>
            <a:ext cx="7556421" cy="91440"/>
          </a:xfrm>
          <a:prstGeom prst="roundRect">
            <a:avLst>
              <a:gd name="adj" fmla="val 72930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333875" y="1416129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476750" y="1535192"/>
            <a:ext cx="190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75360" y="2051090"/>
            <a:ext cx="290274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Criteria Assessment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75360" y="2394347"/>
            <a:ext cx="719328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model performance against original business success criteria and objectives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93790" y="3226832"/>
            <a:ext cx="7556421" cy="1175742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93790" y="3203972"/>
            <a:ext cx="7556421" cy="91440"/>
          </a:xfrm>
          <a:prstGeom prst="roundRect">
            <a:avLst>
              <a:gd name="adj" fmla="val 72930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33875" y="2988707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476750" y="3107769"/>
            <a:ext cx="190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75360" y="362366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Validation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975360" y="3966924"/>
            <a:ext cx="719328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for overfitting, bias detection, and ensure model interpretability for stakeholders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3790" y="4799409"/>
            <a:ext cx="7556421" cy="1175742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93790" y="4776549"/>
            <a:ext cx="7556421" cy="91440"/>
          </a:xfrm>
          <a:prstGeom prst="roundRect">
            <a:avLst>
              <a:gd name="adj" fmla="val 72930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33875" y="4561284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476750" y="4680347"/>
            <a:ext cx="190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75360" y="519624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Stakeholder Review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975360" y="5539502"/>
            <a:ext cx="719328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findings to business stakeholders and validate results meet expectations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93790" y="6371987"/>
            <a:ext cx="7556421" cy="1175742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93790" y="6349127"/>
            <a:ext cx="7556421" cy="91440"/>
          </a:xfrm>
          <a:prstGeom prst="roundRect">
            <a:avLst>
              <a:gd name="adj" fmla="val 72930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333875" y="6133862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476750" y="6252924"/>
            <a:ext cx="190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75360" y="6768822"/>
            <a:ext cx="206192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Deployment Decision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975360" y="7112079"/>
            <a:ext cx="719328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 readiness to move forward with production deployment or iterate further</a:t>
            </a:r>
            <a:endParaRPr lang="en-US" sz="1250" dirty="0"/>
          </a:p>
        </p:txBody>
      </p:sp>
      <p:pic>
        <p:nvPicPr>
          <p:cNvPr id="28" name="Picture 27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B5116623-E66F-4ADD-9C0C-6DB60DFE0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3648" y="-3361"/>
            <a:ext cx="2206752" cy="7087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26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52023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3030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Deployment</a:t>
            </a:r>
            <a:endParaRPr lang="en-US" sz="3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638788"/>
            <a:ext cx="6521410" cy="6804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3811" y="448925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Integration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963811" y="4857036"/>
            <a:ext cx="618136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 model outputs into operational systems and existing business workflows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638788"/>
            <a:ext cx="6521410" cy="6804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85221" y="448925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Delivery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7485221" y="4857036"/>
            <a:ext cx="618136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reports, dashboards, or automated services for end-user consumption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571411"/>
            <a:ext cx="6521410" cy="6804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3811" y="642187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Monitoring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963811" y="6789658"/>
            <a:ext cx="618136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ongoing performance tracking and schedule regular model updates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5571411"/>
            <a:ext cx="6521410" cy="6804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85221" y="642187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Scalability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7485221" y="6789658"/>
            <a:ext cx="618136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system maintainability, compliance requirements, and future growth capacity</a:t>
            </a:r>
            <a:endParaRPr lang="en-US" sz="1300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2092896-A020-BB94-7CE6-471C8DD0AD97}"/>
              </a:ext>
            </a:extLst>
          </p:cNvPr>
          <p:cNvSpPr/>
          <p:nvPr/>
        </p:nvSpPr>
        <p:spPr>
          <a:xfrm>
            <a:off x="12801600" y="7729728"/>
            <a:ext cx="1719072" cy="40233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A5EFF708-9569-FE96-2BF2-C5EDE33533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23648" y="-3361"/>
            <a:ext cx="2206752" cy="7087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67594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03030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KPIs Overview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26644"/>
            <a:ext cx="3725347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3030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SMART KPIs Matter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21638" y="2319338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Performance Indicators must follow SMART principles to ensure meaningful progress tracking and accountability. Effective KPIs provide clear direction and measurable outcomes.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1638" y="3541038"/>
            <a:ext cx="463868" cy="463868"/>
          </a:xfrm>
          <a:prstGeom prst="roundRect">
            <a:avLst>
              <a:gd name="adj" fmla="val 18671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91603" y="3611880"/>
            <a:ext cx="2675215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Measurable Progress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91603" y="4140160"/>
            <a:ext cx="5672138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quantifiable improvements and organizational advancement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1638" y="5212318"/>
            <a:ext cx="463868" cy="463868"/>
          </a:xfrm>
          <a:prstGeom prst="roundRect">
            <a:avLst>
              <a:gd name="adj" fmla="val 18671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91603" y="5283160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Alignment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91603" y="5811441"/>
            <a:ext cx="5672138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initiatives directly support business priorities and goals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736" y="1325761"/>
            <a:ext cx="6342102" cy="6342102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14A6E2F-1C8B-2A77-7F16-C532B59F3F91}"/>
              </a:ext>
            </a:extLst>
          </p:cNvPr>
          <p:cNvSpPr/>
          <p:nvPr/>
        </p:nvSpPr>
        <p:spPr>
          <a:xfrm>
            <a:off x="12801600" y="7729728"/>
            <a:ext cx="1719072" cy="40233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92ED9122-7C30-6ACA-6022-8E8B4EF27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3648" y="-3361"/>
            <a:ext cx="2206752" cy="7087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4746"/>
            <a:ext cx="65233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3030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SMART Framework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4669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Specific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957393"/>
            <a:ext cx="389870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Clear, well-defined objectives that eliminate ambiguity and provide focused direction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874" y="3544610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19871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93CB5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Measurable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2477572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Quantifiable metrics that allow progress tracking and performance assessment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169" y="2964180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1256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7AD1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Achievable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051256" y="4396859"/>
            <a:ext cx="378535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Realistic goals within available resources, skills, and organizational constraints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3117" y="4483775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37790" y="58257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7AD1C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Relevant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9937790" y="6316147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alignment with business priorities and strategic organizational objectives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9169" y="6003369"/>
            <a:ext cx="339328" cy="42422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857256" y="5345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Time-bound</a:t>
            </a:r>
            <a:endParaRPr lang="en-US" sz="2200" dirty="0"/>
          </a:p>
        </p:txBody>
      </p:sp>
      <p:sp>
        <p:nvSpPr>
          <p:cNvPr id="20" name="Text 10"/>
          <p:cNvSpPr/>
          <p:nvPr/>
        </p:nvSpPr>
        <p:spPr>
          <a:xfrm>
            <a:off x="793790" y="5836325"/>
            <a:ext cx="389870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specific deadlines and timeframes for completion and milestone tracking</a:t>
            </a:r>
            <a:endParaRPr lang="en-US" sz="17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2874" y="5422940"/>
            <a:ext cx="339328" cy="424220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2D76F21-6671-B3AA-42BA-BDD5F16CDCA4}"/>
              </a:ext>
            </a:extLst>
          </p:cNvPr>
          <p:cNvSpPr/>
          <p:nvPr/>
        </p:nvSpPr>
        <p:spPr>
          <a:xfrm>
            <a:off x="12801600" y="7729728"/>
            <a:ext cx="1719072" cy="40233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A green sign with white text&#10;&#10;AI-generated content may be incorrect.">
            <a:extLst>
              <a:ext uri="{FF2B5EF4-FFF2-40B4-BE49-F238E27FC236}">
                <a16:creationId xmlns:a16="http://schemas.microsoft.com/office/drawing/2014/main" id="{0B6D6B99-4671-F83E-FF05-E0819C50B13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23648" y="-3361"/>
            <a:ext cx="2206752" cy="7087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566</Words>
  <Application>Microsoft Macintosh PowerPoint</Application>
  <PresentationFormat>Custom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</vt:lpstr>
      <vt:lpstr>Arial</vt:lpstr>
      <vt:lpstr>Inter Bold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Kwaku Sekyere Owusu-Oware</cp:lastModifiedBy>
  <cp:revision>3</cp:revision>
  <dcterms:created xsi:type="dcterms:W3CDTF">2025-09-12T12:19:35Z</dcterms:created>
  <dcterms:modified xsi:type="dcterms:W3CDTF">2025-09-12T12:29:31Z</dcterms:modified>
</cp:coreProperties>
</file>